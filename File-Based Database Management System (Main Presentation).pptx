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4450080" cy="6959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964547" y="1718335"/>
            <a:ext cx="10098406" cy="3632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4450080" cy="6959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964547" y="1718335"/>
            <a:ext cx="10098406" cy="3632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4450080" cy="6959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4450080" cy="6959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152733" y="6466775"/>
            <a:ext cx="192584" cy="1600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38100">
              <a:lnSpc>
                <a:spcPts val="1200"/>
              </a:lnSpc>
              <a:defRPr sz="1200" spc="-5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3810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ts val="1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bject 3"/>
          <p:cNvSpPr txBox="1"/>
          <p:nvPr/>
        </p:nvSpPr>
        <p:spPr>
          <a:xfrm>
            <a:off x="718206" y="1625688"/>
            <a:ext cx="10283020" cy="338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4700"/>
              </a:lnSpc>
              <a:defRPr sz="24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i="1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Course</a:t>
            </a:r>
            <a:r>
              <a:rPr i="1" spc="-60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 </a:t>
            </a:r>
            <a:r>
              <a:rPr i="1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Details</a:t>
            </a:r>
            <a:r>
              <a:rPr i="1" spc="-55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:</a:t>
            </a:r>
            <a:r>
              <a:rPr spc="-55" dirty="0">
                <a:solidFill>
                  <a:srgbClr val="8ECAE6"/>
                </a:solidFill>
                <a:latin typeface="Avenir Next Medium"/>
                <a:ea typeface="Avenir Next Medium"/>
                <a:cs typeface="Avenir Next Medium"/>
                <a:sym typeface="Avenir Next Medium"/>
              </a:rPr>
              <a:t> </a:t>
            </a:r>
            <a:r>
              <a:rPr spc="-55" dirty="0">
                <a:solidFill>
                  <a:srgbClr val="D1D1D1"/>
                </a:solidFill>
              </a:rPr>
              <a:t>ICS1010</a:t>
            </a:r>
            <a:r>
              <a:rPr dirty="0">
                <a:solidFill>
                  <a:srgbClr val="D1D1D1"/>
                </a:solidFill>
              </a:rPr>
              <a:t>,</a:t>
            </a:r>
            <a:r>
              <a:rPr spc="-60" dirty="0">
                <a:solidFill>
                  <a:srgbClr val="D1D1D1"/>
                </a:solidFill>
              </a:rPr>
              <a:t> Introduction to Computer Science</a:t>
            </a:r>
            <a:endParaRPr dirty="0">
              <a:solidFill>
                <a:srgbClr val="D1D1D1"/>
              </a:solidFill>
            </a:endParaRPr>
          </a:p>
          <a:p>
            <a:pPr marR="5080" indent="12700">
              <a:lnSpc>
                <a:spcPct val="114700"/>
              </a:lnSpc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 Prof. </a:t>
            </a:r>
            <a:r>
              <a:rPr dirty="0" err="1"/>
              <a:t>Suchetana</a:t>
            </a:r>
            <a:r>
              <a:rPr dirty="0"/>
              <a:t> Chakraborty</a:t>
            </a:r>
          </a:p>
          <a:p>
            <a:pPr marR="5080" indent="12700">
              <a:lnSpc>
                <a:spcPct val="114700"/>
              </a:lnSpc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 </a:t>
            </a:r>
            <a:r>
              <a:rPr spc="0" dirty="0"/>
              <a:t>Mentor</a:t>
            </a:r>
            <a:r>
              <a:rPr spc="-30" dirty="0"/>
              <a:t> </a:t>
            </a:r>
            <a:r>
              <a:rPr spc="-25" dirty="0"/>
              <a:t>TA: Ayush </a:t>
            </a:r>
            <a:r>
              <a:rPr spc="-25" dirty="0" err="1"/>
              <a:t>Pekamwar</a:t>
            </a:r>
            <a:endParaRPr lang="en-US" spc="-25" dirty="0"/>
          </a:p>
          <a:p>
            <a:pPr marR="5080" indent="12700">
              <a:lnSpc>
                <a:spcPct val="114700"/>
              </a:lnSpc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pc="-25" dirty="0"/>
          </a:p>
          <a:p>
            <a:pPr lvl="2">
              <a:spcBef>
                <a:spcPts val="400"/>
              </a:spcBef>
              <a:defRPr sz="24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i="1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Team</a:t>
            </a:r>
            <a:r>
              <a:rPr i="1" spc="-55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 </a:t>
            </a:r>
            <a:r>
              <a:rPr i="1" spc="-10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Members:</a:t>
            </a:r>
            <a:r>
              <a:rPr i="1" spc="-55" dirty="0">
                <a:solidFill>
                  <a:srgbClr val="8ECAE6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 </a:t>
            </a:r>
            <a:r>
              <a:rPr spc="-55" dirty="0">
                <a:solidFill>
                  <a:srgbClr val="D1D1D1"/>
                </a:solidFill>
              </a:rPr>
              <a:t>Harish Babu Balaji – B25BB1012</a:t>
            </a:r>
            <a:endParaRPr dirty="0">
              <a:solidFill>
                <a:srgbClr val="D1D1D1"/>
              </a:solidFill>
            </a:endParaRPr>
          </a:p>
          <a:p>
            <a:pPr lvl="2">
              <a:spcBef>
                <a:spcPts val="400"/>
              </a:spcBef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  </a:t>
            </a:r>
            <a:r>
              <a:rPr lang="en-US" dirty="0"/>
              <a:t>  </a:t>
            </a:r>
            <a:r>
              <a:rPr dirty="0"/>
              <a:t>Abhishek Reddy N – B25CM1001</a:t>
            </a:r>
          </a:p>
          <a:p>
            <a:pPr lvl="2">
              <a:spcBef>
                <a:spcPts val="400"/>
              </a:spcBef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 </a:t>
            </a:r>
            <a:r>
              <a:rPr lang="en-US" dirty="0"/>
              <a:t>  </a:t>
            </a:r>
            <a:r>
              <a:rPr dirty="0"/>
              <a:t> Ashhar Ansari – B25EE1009 </a:t>
            </a:r>
          </a:p>
          <a:p>
            <a:pPr lvl="2">
              <a:spcBef>
                <a:spcPts val="400"/>
              </a:spcBef>
              <a:defRPr sz="2400" spc="-55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  </a:t>
            </a:r>
            <a:r>
              <a:rPr lang="en-US" dirty="0"/>
              <a:t>  </a:t>
            </a:r>
            <a:r>
              <a:rPr dirty="0"/>
              <a:t>Rahul SV - B25ME1063</a:t>
            </a:r>
          </a:p>
        </p:txBody>
      </p:sp>
      <p:sp>
        <p:nvSpPr>
          <p:cNvPr id="65" name="object 2"/>
          <p:cNvSpPr txBox="1">
            <a:spLocks noGrp="1"/>
          </p:cNvSpPr>
          <p:nvPr>
            <p:ph type="title"/>
          </p:nvPr>
        </p:nvSpPr>
        <p:spPr>
          <a:xfrm>
            <a:off x="0" y="462471"/>
            <a:ext cx="8987502" cy="1163217"/>
          </a:xfrm>
          <a:prstGeom prst="rect">
            <a:avLst/>
          </a:prstGeom>
        </p:spPr>
        <p:txBody>
          <a:bodyPr/>
          <a:lstStyle>
            <a:lvl1pPr indent="7365" algn="ctr" defTabSz="530351">
              <a:spcBef>
                <a:spcPts val="200"/>
              </a:spcBef>
              <a:defRPr sz="3480" b="1" spc="-14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pc="0"/>
            </a:pPr>
            <a:r>
              <a:rPr spc="-14" dirty="0"/>
              <a:t>File-Based Database Management System</a:t>
            </a:r>
          </a:p>
        </p:txBody>
      </p:sp>
      <p:sp>
        <p:nvSpPr>
          <p:cNvPr id="66" name="GitHub - https://github.com/harishbabu2007/ICS-Project-File-Based-Database"/>
          <p:cNvSpPr txBox="1"/>
          <p:nvPr/>
        </p:nvSpPr>
        <p:spPr>
          <a:xfrm>
            <a:off x="718206" y="5531675"/>
            <a:ext cx="8796637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600"/>
              </a:spcBef>
              <a:tabLst>
                <a:tab pos="177800" algn="l"/>
              </a:tabLst>
              <a:defRPr sz="20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0" dirty="0">
                <a:latin typeface="Avenir Next Demi Bold"/>
                <a:ea typeface="Avenir Next Demi Bold"/>
                <a:cs typeface="Avenir Next Demi Bold"/>
                <a:sym typeface="Avenir Next Demi Bold"/>
              </a:rPr>
              <a:t>GitHub</a:t>
            </a:r>
            <a:r>
              <a:rPr lang="en-US" b="0" dirty="0">
                <a:latin typeface="Avenir Next Demi Bold"/>
                <a:ea typeface="Avenir Next Demi Bold"/>
                <a:cs typeface="Avenir Next Demi Bold"/>
                <a:sym typeface="Avenir Next Demi Bold"/>
              </a:rPr>
              <a:t> Repo</a:t>
            </a:r>
            <a:r>
              <a:rPr b="0" dirty="0">
                <a:latin typeface="Avenir Next Demi Bold"/>
                <a:ea typeface="Avenir Next Demi Bold"/>
                <a:cs typeface="Avenir Next Demi Bold"/>
                <a:sym typeface="Avenir Next Demi Bold"/>
              </a:rPr>
              <a:t> -</a:t>
            </a:r>
            <a:r>
              <a:rPr dirty="0"/>
              <a:t> </a:t>
            </a:r>
            <a:r>
              <a:rPr b="0" dirty="0">
                <a:solidFill>
                  <a:srgbClr val="DDDDDD"/>
                </a:solidFill>
              </a:rPr>
              <a:t>https://github.com/harishbabu2007/ICS-Project-File-Based-Database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4"/>
          <p:cNvSpPr txBox="1"/>
          <p:nvPr/>
        </p:nvSpPr>
        <p:spPr>
          <a:xfrm>
            <a:off x="5521399" y="6466775"/>
            <a:ext cx="1148715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200"/>
              </a:lnSpc>
              <a:defRPr sz="1200" spc="-10">
                <a:solidFill>
                  <a:srgbClr val="888888"/>
                </a:solidFill>
              </a:defRPr>
            </a:lvl1pPr>
          </a:lstStyle>
          <a:p>
            <a:r>
              <a:t>ICS2026/Jan26/SC</a:t>
            </a:r>
          </a:p>
        </p:txBody>
      </p:sp>
      <p:sp>
        <p:nvSpPr>
          <p:cNvPr id="69" name="object 2"/>
          <p:cNvSpPr txBox="1">
            <a:spLocks noGrp="1"/>
          </p:cNvSpPr>
          <p:nvPr>
            <p:ph type="title"/>
          </p:nvPr>
        </p:nvSpPr>
        <p:spPr>
          <a:xfrm>
            <a:off x="816910" y="207179"/>
            <a:ext cx="3926244" cy="40944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indent="11811" defTabSz="850391">
              <a:defRPr sz="3255" b="1">
                <a:solidFill>
                  <a:srgbClr val="FFFFFF"/>
                </a:solidFill>
              </a:defRPr>
            </a:pPr>
            <a:r>
              <a:rPr dirty="0"/>
              <a:t>Problem</a:t>
            </a:r>
            <a:r>
              <a:rPr spc="-147" dirty="0"/>
              <a:t> </a:t>
            </a:r>
            <a:r>
              <a:rPr spc="-73" dirty="0"/>
              <a:t>Statement</a:t>
            </a:r>
          </a:p>
        </p:txBody>
      </p:sp>
      <p:sp>
        <p:nvSpPr>
          <p:cNvPr id="70" name="object 3"/>
          <p:cNvSpPr txBox="1"/>
          <p:nvPr/>
        </p:nvSpPr>
        <p:spPr>
          <a:xfrm>
            <a:off x="582478" y="770021"/>
            <a:ext cx="6857850" cy="6860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228600">
              <a:spcBef>
                <a:spcPts val="100"/>
              </a:spcBef>
              <a:tabLst>
                <a:tab pos="635000" algn="l"/>
              </a:tabLst>
              <a:defRPr sz="2400" b="1">
                <a:solidFill>
                  <a:srgbClr val="8ECAE6"/>
                </a:solidFill>
              </a:defRPr>
            </a:pPr>
            <a:r>
              <a:rPr sz="2000" dirty="0"/>
              <a:t>Domain</a:t>
            </a:r>
            <a:r>
              <a:rPr sz="2000" spc="-40" dirty="0"/>
              <a:t> / Use Case</a:t>
            </a:r>
          </a:p>
          <a:p>
            <a:pPr marL="643255" lvl="1" indent="-181609">
              <a:spcBef>
                <a:spcPts val="1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Lightweight file-based DBMS for </a:t>
            </a:r>
            <a:r>
              <a:rPr sz="2000" b="1" dirty="0"/>
              <a:t>small-scale educational applications</a:t>
            </a:r>
          </a:p>
          <a:p>
            <a:pPr marL="643255" lvl="1" indent="-181609">
              <a:spcBef>
                <a:spcPts val="1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Use cases: student records, inventory, local data storage</a:t>
            </a:r>
          </a:p>
          <a:p>
            <a:pPr marL="643255" lvl="1" indent="-181609">
              <a:spcBef>
                <a:spcPts val="1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Provides basic CRUD operations without external DB dependencies</a:t>
            </a:r>
          </a:p>
          <a:p>
            <a:pPr lvl="1" indent="228600">
              <a:spcBef>
                <a:spcPts val="200"/>
              </a:spcBef>
              <a:tabLst>
                <a:tab pos="635000" algn="l"/>
              </a:tabLst>
              <a:defRPr sz="2400" b="1"/>
            </a:pPr>
            <a:endParaRPr sz="2000" dirty="0"/>
          </a:p>
          <a:p>
            <a:pPr lvl="1" indent="228600">
              <a:spcBef>
                <a:spcPts val="200"/>
              </a:spcBef>
              <a:tabLst>
                <a:tab pos="635000" algn="l"/>
              </a:tabLst>
              <a:defRPr sz="2400" b="1">
                <a:solidFill>
                  <a:srgbClr val="8ECAE6"/>
                </a:solidFill>
              </a:defRPr>
            </a:pPr>
            <a:r>
              <a:rPr sz="2000" dirty="0"/>
              <a:t>Why its an important problem?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Full DBMS (MySQL, PostgreSQL) are </a:t>
            </a:r>
            <a:r>
              <a:rPr sz="2000" b="1" dirty="0"/>
              <a:t>resource-heavy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Need for simple, low-overhead storage systems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Helps understand </a:t>
            </a:r>
            <a:r>
              <a:rPr sz="2000" b="1" dirty="0"/>
              <a:t>core DBMS internals</a:t>
            </a:r>
          </a:p>
          <a:p>
            <a:pPr>
              <a:spcBef>
                <a:spcPts val="200"/>
              </a:spcBef>
              <a:tabLst>
                <a:tab pos="635000" algn="l"/>
              </a:tabLst>
              <a:defRPr sz="1400"/>
            </a:pPr>
            <a:endParaRPr sz="2000" b="1" dirty="0"/>
          </a:p>
          <a:p>
            <a:pPr lvl="1" indent="228600">
              <a:spcBef>
                <a:spcPts val="200"/>
              </a:spcBef>
              <a:tabLst>
                <a:tab pos="635000" algn="l"/>
              </a:tabLst>
              <a:defRPr sz="2400" b="1">
                <a:solidFill>
                  <a:srgbClr val="8ECAE6"/>
                </a:solidFill>
              </a:defRPr>
            </a:pPr>
            <a:r>
              <a:rPr sz="2000" dirty="0"/>
              <a:t>Why its a challenging problem?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Designing structured storage format within</a:t>
            </a:r>
            <a:r>
              <a:rPr sz="2000" b="1" dirty="0"/>
              <a:t> binary files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Implementing</a:t>
            </a:r>
            <a:r>
              <a:rPr sz="2000" b="1" dirty="0"/>
              <a:t> CRUD </a:t>
            </a:r>
            <a:r>
              <a:rPr sz="2000" dirty="0"/>
              <a:t>Logic using file I/O (</a:t>
            </a:r>
            <a:r>
              <a:rPr sz="2000" dirty="0" err="1"/>
              <a:t>fstream</a:t>
            </a:r>
            <a:r>
              <a:rPr sz="2000" dirty="0"/>
              <a:t>)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Handling </a:t>
            </a:r>
            <a:r>
              <a:rPr sz="2000" b="1" dirty="0"/>
              <a:t>record parsing</a:t>
            </a:r>
            <a:r>
              <a:rPr sz="2000" dirty="0"/>
              <a:t> and </a:t>
            </a:r>
            <a:r>
              <a:rPr sz="2000" b="1" dirty="0"/>
              <a:t>schema management</a:t>
            </a:r>
          </a:p>
          <a:p>
            <a:pPr marL="643255" lvl="1" indent="-181609">
              <a:spcBef>
                <a:spcPts val="200"/>
              </a:spcBef>
              <a:buSzPct val="100000"/>
              <a:buFont typeface="Arial"/>
              <a:buChar char="•"/>
              <a:tabLst>
                <a:tab pos="635000" algn="l"/>
              </a:tabLst>
              <a:defRPr sz="1400">
                <a:solidFill>
                  <a:srgbClr val="D1D1D1"/>
                </a:solidFill>
              </a:defRPr>
            </a:pPr>
            <a:r>
              <a:rPr sz="2000" dirty="0"/>
              <a:t>Ensuring </a:t>
            </a:r>
            <a:r>
              <a:rPr sz="2000" b="1" dirty="0"/>
              <a:t>data consistency</a:t>
            </a:r>
            <a:r>
              <a:rPr sz="2000" dirty="0"/>
              <a:t> during updates/deletes</a:t>
            </a:r>
          </a:p>
          <a:p>
            <a:pPr>
              <a:spcBef>
                <a:spcPts val="200"/>
              </a:spcBef>
              <a:tabLst>
                <a:tab pos="635000" algn="l"/>
              </a:tabLst>
              <a:defRPr sz="1400"/>
            </a:pPr>
            <a:endParaRPr sz="2000" dirty="0"/>
          </a:p>
          <a:p>
            <a:pPr marL="617310" lvl="1" indent="-155665" defTabSz="457200">
              <a:buSzPct val="100000"/>
              <a:buFont typeface="Arial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endParaRPr sz="2000" dirty="0"/>
          </a:p>
          <a:p>
            <a:pPr lvl="1" indent="228600">
              <a:spcBef>
                <a:spcPts val="200"/>
              </a:spcBef>
              <a:tabLst>
                <a:tab pos="635000" algn="l"/>
              </a:tabLst>
              <a:defRPr sz="2400" b="1"/>
            </a:pPr>
            <a:endParaRPr sz="2000" dirty="0"/>
          </a:p>
          <a:p>
            <a:pPr lvl="1" indent="228600">
              <a:spcBef>
                <a:spcPts val="200"/>
              </a:spcBef>
              <a:tabLst>
                <a:tab pos="635000" algn="l"/>
              </a:tabLst>
              <a:defRPr sz="2400" b="1"/>
            </a:pPr>
            <a:endParaRPr sz="2000" spc="-10" dirty="0"/>
          </a:p>
        </p:txBody>
      </p:sp>
      <p:sp>
        <p:nvSpPr>
          <p:cNvPr id="71" name="Existing Solutions…"/>
          <p:cNvSpPr txBox="1"/>
          <p:nvPr/>
        </p:nvSpPr>
        <p:spPr>
          <a:xfrm>
            <a:off x="7824180" y="770021"/>
            <a:ext cx="3785342" cy="5262979"/>
          </a:xfrm>
          <a:prstGeom prst="rect">
            <a:avLst/>
          </a:prstGeom>
          <a:solidFill>
            <a:schemeClr val="accent5">
              <a:lumOff val="23235"/>
            </a:schemeClr>
          </a:solidFill>
          <a:ln w="635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1" dirty="0"/>
              <a:t>   Existing Solutions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1" dirty="0"/>
              <a:t>   (MySQL, PostgreSQL, etc.)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</a:t>
            </a:r>
            <a:r>
              <a:rPr lang="en-US" dirty="0"/>
              <a:t>             </a:t>
            </a:r>
            <a:r>
              <a:rPr b="1" dirty="0">
                <a:solidFill>
                  <a:schemeClr val="accent2">
                    <a:satOff val="-4966"/>
                    <a:lumOff val="-10549"/>
                  </a:schemeClr>
                </a:solidFill>
              </a:rPr>
              <a:t>Heavy, complex,</a:t>
            </a:r>
          </a:p>
          <a:p>
            <a:pPr>
              <a:defRPr sz="1600" b="1">
                <a:solidFill>
                  <a:schemeClr val="accent2">
                    <a:satOff val="-4966"/>
                    <a:lumOff val="-10549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            </a:t>
            </a:r>
            <a:r>
              <a:rPr dirty="0"/>
              <a:t> high resource usage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</a:t>
            </a:r>
            <a:endParaRPr lang="en-US" dirty="0"/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</a:t>
            </a:r>
            <a:r>
              <a:rPr b="1" dirty="0"/>
              <a:t>Not Suitable for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1" dirty="0"/>
              <a:t>   Small / Educational Systems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</a:t>
            </a:r>
            <a:r>
              <a:rPr lang="en-US" dirty="0"/>
              <a:t>              </a:t>
            </a:r>
            <a:r>
              <a:rPr b="1" dirty="0">
                <a:solidFill>
                  <a:schemeClr val="accent2">
                    <a:satOff val="-4966"/>
                    <a:lumOff val="-10549"/>
                  </a:schemeClr>
                </a:solidFill>
              </a:rPr>
              <a:t>Need for simple,</a:t>
            </a:r>
          </a:p>
          <a:p>
            <a:pPr>
              <a:defRPr sz="1600" b="1">
                <a:solidFill>
                  <a:schemeClr val="accent2">
                    <a:satOff val="-4966"/>
                    <a:lumOff val="-10549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                </a:t>
            </a:r>
            <a:r>
              <a:rPr lang="en-US" dirty="0"/>
              <a:t>              </a:t>
            </a:r>
            <a:r>
              <a:rPr dirty="0"/>
              <a:t>lightweight storage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</a:t>
            </a:r>
            <a:endParaRPr lang="en-US" dirty="0"/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1" dirty="0">
                <a:solidFill>
                  <a:schemeClr val="accent2">
                    <a:satOff val="-4966"/>
                    <a:lumOff val="-10549"/>
                  </a:schemeClr>
                </a:solidFill>
              </a:rPr>
              <a:t>Problem Gap!</a:t>
            </a:r>
          </a:p>
          <a:p>
            <a:pPr lvl="1"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</a:t>
            </a:r>
            <a:r>
              <a:rPr b="1" dirty="0"/>
              <a:t>No transparent, low-level DB system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</a:t>
            </a:r>
          </a:p>
          <a:p>
            <a:pPr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            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  </a:t>
            </a:r>
            <a:r>
              <a:rPr b="1" dirty="0"/>
              <a:t> Proposed Approach</a:t>
            </a:r>
          </a:p>
          <a:p>
            <a:pPr algn="ctr">
              <a:defRPr sz="16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b="1" dirty="0"/>
              <a:t>   File-Based Lightweight DBMS</a:t>
            </a:r>
          </a:p>
        </p:txBody>
      </p:sp>
      <p:sp>
        <p:nvSpPr>
          <p:cNvPr id="72" name="Line"/>
          <p:cNvSpPr/>
          <p:nvPr/>
        </p:nvSpPr>
        <p:spPr>
          <a:xfrm>
            <a:off x="9702265" y="1350083"/>
            <a:ext cx="9625" cy="1106905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3" name="Line"/>
          <p:cNvSpPr/>
          <p:nvPr/>
        </p:nvSpPr>
        <p:spPr>
          <a:xfrm flipH="1">
            <a:off x="9702265" y="3203173"/>
            <a:ext cx="0" cy="89556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74" name="Line"/>
          <p:cNvSpPr/>
          <p:nvPr/>
        </p:nvSpPr>
        <p:spPr>
          <a:xfrm>
            <a:off x="9721515" y="4764142"/>
            <a:ext cx="1" cy="69490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Rounded Rectangle  " descr="Rounded Rectangle  "/>
          <p:cNvPicPr>
            <a:picLocks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4995180" y="2631759"/>
            <a:ext cx="6893148" cy="2289547"/>
          </a:xfrm>
          <a:prstGeom prst="rect">
            <a:avLst/>
          </a:prstGeom>
          <a:effectLst>
            <a:outerShdw blurRad="127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77" name="object 4"/>
          <p:cNvSpPr txBox="1"/>
          <p:nvPr/>
        </p:nvSpPr>
        <p:spPr>
          <a:xfrm>
            <a:off x="5521399" y="6466775"/>
            <a:ext cx="1148715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200"/>
              </a:lnSpc>
              <a:defRPr sz="1200" spc="-10">
                <a:solidFill>
                  <a:srgbClr val="888888"/>
                </a:solidFill>
              </a:defRPr>
            </a:lvl1pPr>
          </a:lstStyle>
          <a:p>
            <a:r>
              <a:t>ICS2026/Jan26/SC</a:t>
            </a:r>
          </a:p>
        </p:txBody>
      </p:sp>
      <p:sp>
        <p:nvSpPr>
          <p:cNvPr id="78" name="object 2"/>
          <p:cNvSpPr txBox="1">
            <a:spLocks noGrp="1"/>
          </p:cNvSpPr>
          <p:nvPr>
            <p:ph type="title"/>
          </p:nvPr>
        </p:nvSpPr>
        <p:spPr>
          <a:xfrm>
            <a:off x="535138" y="202882"/>
            <a:ext cx="3924300" cy="406400"/>
          </a:xfrm>
          <a:prstGeom prst="rect">
            <a:avLst/>
          </a:prstGeom>
        </p:spPr>
        <p:txBody>
          <a:bodyPr/>
          <a:lstStyle/>
          <a:p>
            <a:pPr indent="6730" defTabSz="484631">
              <a:defRPr sz="2332"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Current</a:t>
            </a:r>
            <a:r>
              <a:rPr spc="-106" dirty="0"/>
              <a:t> </a:t>
            </a:r>
            <a:r>
              <a:rPr spc="-53" dirty="0"/>
              <a:t>Status</a:t>
            </a:r>
          </a:p>
        </p:txBody>
      </p:sp>
      <p:sp>
        <p:nvSpPr>
          <p:cNvPr id="79" name="Key Highlights (DSA Specific)…"/>
          <p:cNvSpPr txBox="1"/>
          <p:nvPr/>
        </p:nvSpPr>
        <p:spPr>
          <a:xfrm>
            <a:off x="535138" y="1131965"/>
            <a:ext cx="7906616" cy="501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>
              <a:defRPr sz="2000" b="1" i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Key Highlights </a:t>
            </a:r>
            <a:r>
              <a:rPr lang="en-US" dirty="0"/>
              <a:t>Of Current Solutions</a:t>
            </a:r>
            <a:endParaRPr dirty="0"/>
          </a:p>
          <a:p>
            <a:pPr>
              <a:defRPr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240631" indent="-240631">
              <a:buSzPct val="100000"/>
              <a:buAutoNum type="arabicPeriod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Tree based indexing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B/B+ Trees</a:t>
            </a:r>
          </a:p>
          <a:p>
            <a:pPr marL="942473" lvl="2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Balanced Trees </a:t>
            </a:r>
            <a:r>
              <a:rPr lang="en-US" dirty="0"/>
              <a:t>for</a:t>
            </a:r>
            <a:r>
              <a:rPr dirty="0"/>
              <a:t> search, insert, delete</a:t>
            </a:r>
          </a:p>
          <a:p>
            <a:pPr marL="942473" lvl="2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Efficient for </a:t>
            </a:r>
            <a:r>
              <a:rPr b="1" dirty="0"/>
              <a:t>range queries</a:t>
            </a:r>
            <a:r>
              <a:rPr dirty="0"/>
              <a:t> and disk based storage</a:t>
            </a:r>
          </a:p>
          <a:p>
            <a:pPr>
              <a:defRPr sz="12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240631" indent="-240631">
              <a:buSzPct val="100000"/>
              <a:buAutoNum type="arabicPeriod" startAt="2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Hash Based Indexing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Uses hash table - average lookup 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Best for </a:t>
            </a:r>
            <a:r>
              <a:rPr b="1" dirty="0"/>
              <a:t>exact-match queries</a:t>
            </a:r>
            <a:r>
              <a:rPr dirty="0"/>
              <a:t> (not range based)</a:t>
            </a:r>
          </a:p>
          <a:p>
            <a:pPr>
              <a:defRPr sz="12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240631" indent="-240631">
              <a:buSzPct val="100000"/>
              <a:buAutoNum type="arabicPeriod" startAt="3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Buffer Management (Caching)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Least Recently Used (LRU)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Clock algorithms</a:t>
            </a:r>
          </a:p>
          <a:p>
            <a:pPr>
              <a:defRPr sz="12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240631" indent="-240631">
              <a:buSzPct val="100000"/>
              <a:buAutoNum type="arabicPeriod" startAt="4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Query Processing Algorithms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Sorting (External Merge Sort) for large data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Join</a:t>
            </a:r>
            <a:r>
              <a:rPr lang="en-US" dirty="0"/>
              <a:t>ing</a:t>
            </a:r>
            <a:r>
              <a:rPr dirty="0"/>
              <a:t> Algorithms:</a:t>
            </a:r>
          </a:p>
          <a:p>
            <a:pPr marL="942473" lvl="2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Nested Loop Join</a:t>
            </a:r>
          </a:p>
          <a:p>
            <a:pPr marL="942473" lvl="2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Hash Join</a:t>
            </a:r>
          </a:p>
          <a:p>
            <a:pPr marL="942473" lvl="2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Sort-Merge Join</a:t>
            </a:r>
          </a:p>
        </p:txBody>
      </p:sp>
      <p:sp>
        <p:nvSpPr>
          <p:cNvPr id="80" name="While industry DBMS are optimized for scale using complex architectures, they are often overkill for simple applications.…"/>
          <p:cNvSpPr txBox="1"/>
          <p:nvPr/>
        </p:nvSpPr>
        <p:spPr>
          <a:xfrm>
            <a:off x="5394075" y="3042667"/>
            <a:ext cx="6797925" cy="198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200"/>
              </a:spcBef>
              <a:defRPr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While industry DBMS are optimized for scale using complex architectures, they are often overkill for simple applications.</a:t>
            </a:r>
          </a:p>
          <a:p>
            <a:pPr defTabSz="457200">
              <a:spcBef>
                <a:spcPts val="1200"/>
              </a:spcBef>
              <a:defRPr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Our system simplifies this by using direct file-based operations, improving transparency and ease of understanding.</a:t>
            </a:r>
          </a:p>
        </p:txBody>
      </p:sp>
      <p:sp>
        <p:nvSpPr>
          <p:cNvPr id="81" name="The current industry leaders are MySQL, PostgreSQL, MongoDB, SQLite"/>
          <p:cNvSpPr txBox="1"/>
          <p:nvPr/>
        </p:nvSpPr>
        <p:spPr>
          <a:xfrm>
            <a:off x="535138" y="718023"/>
            <a:ext cx="915278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200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The current industry leaders are MySQL, PostgreSQL, MongoDB, SQLite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4"/>
          <p:cNvSpPr txBox="1"/>
          <p:nvPr/>
        </p:nvSpPr>
        <p:spPr>
          <a:xfrm>
            <a:off x="5521399" y="6466775"/>
            <a:ext cx="1148715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200"/>
              </a:lnSpc>
              <a:defRPr sz="1200" spc="-10">
                <a:solidFill>
                  <a:srgbClr val="888888"/>
                </a:solidFill>
              </a:defRPr>
            </a:lvl1pPr>
          </a:lstStyle>
          <a:p>
            <a:r>
              <a:t>ICS2026/Jan26/SC</a:t>
            </a:r>
          </a:p>
        </p:txBody>
      </p:sp>
      <p:sp>
        <p:nvSpPr>
          <p:cNvPr id="84" name="object 2"/>
          <p:cNvSpPr txBox="1">
            <a:spLocks noGrp="1"/>
          </p:cNvSpPr>
          <p:nvPr>
            <p:ph type="title"/>
          </p:nvPr>
        </p:nvSpPr>
        <p:spPr>
          <a:xfrm>
            <a:off x="544763" y="180453"/>
            <a:ext cx="3012762" cy="695961"/>
          </a:xfrm>
          <a:prstGeom prst="rect">
            <a:avLst/>
          </a:prstGeom>
        </p:spPr>
        <p:txBody>
          <a:bodyPr>
            <a:normAutofit/>
          </a:bodyPr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800" dirty="0"/>
              <a:t>Project Idea</a:t>
            </a:r>
          </a:p>
        </p:txBody>
      </p:sp>
      <p:sp>
        <p:nvSpPr>
          <p:cNvPr id="85" name="object 3"/>
          <p:cNvSpPr txBox="1"/>
          <p:nvPr/>
        </p:nvSpPr>
        <p:spPr>
          <a:xfrm>
            <a:off x="687398" y="1132854"/>
            <a:ext cx="5680088" cy="2954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A complete file-based DBMS</a:t>
            </a:r>
            <a:endParaRPr lang="en-US"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No external database server required</a:t>
            </a:r>
            <a:endParaRPr lang="en-US"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Data persisted in binary files on disk</a:t>
            </a:r>
            <a:endParaRPr lang="en-US"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Custom SQL-like interpreter &amp; CLI</a:t>
            </a:r>
            <a:endParaRPr lang="en-US"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dirty="0"/>
          </a:p>
          <a:p>
            <a:pPr marL="180473" indent="-180473">
              <a:buSzPct val="100000"/>
              <a:buChar char="•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Portable, runs anywhere with a C++ compiler</a:t>
            </a:r>
          </a:p>
          <a:p>
            <a:pPr marL="561473" lvl="1" indent="-180473" defTabSz="457200">
              <a:buSzPct val="100000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86" name="What we built"/>
          <p:cNvSpPr txBox="1"/>
          <p:nvPr/>
        </p:nvSpPr>
        <p:spPr>
          <a:xfrm>
            <a:off x="667394" y="935614"/>
            <a:ext cx="3016996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7325" indent="-174625">
              <a:spcBef>
                <a:spcPts val="600"/>
              </a:spcBef>
              <a:buSzPct val="100000"/>
              <a:buFont typeface="Arial"/>
              <a:buChar char="•"/>
              <a:tabLst>
                <a:tab pos="177800" algn="l"/>
              </a:tabLst>
              <a:defRPr sz="3600" b="1">
                <a:solidFill>
                  <a:srgbClr val="8ECAE6"/>
                </a:solidFill>
              </a:defRPr>
            </a:lvl1pPr>
          </a:lstStyle>
          <a:p>
            <a:pPr marL="12700" indent="0">
              <a:buNone/>
            </a:pPr>
            <a:r>
              <a:rPr sz="2000" dirty="0"/>
              <a:t>What we built</a:t>
            </a:r>
          </a:p>
        </p:txBody>
      </p:sp>
      <p:grpSp>
        <p:nvGrpSpPr>
          <p:cNvPr id="93" name="Group"/>
          <p:cNvGrpSpPr/>
          <p:nvPr/>
        </p:nvGrpSpPr>
        <p:grpSpPr>
          <a:xfrm>
            <a:off x="6562079" y="654914"/>
            <a:ext cx="5080386" cy="4410581"/>
            <a:chOff x="0" y="0"/>
            <a:chExt cx="5080384" cy="4410580"/>
          </a:xfrm>
        </p:grpSpPr>
        <p:sp>
          <p:nvSpPr>
            <p:cNvPr id="87" name="Rounded Rectangle"/>
            <p:cNvSpPr/>
            <p:nvPr/>
          </p:nvSpPr>
          <p:spPr>
            <a:xfrm>
              <a:off x="0" y="0"/>
              <a:ext cx="4885791" cy="1270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88" name="Database Engine…"/>
            <p:cNvSpPr txBox="1"/>
            <p:nvPr/>
          </p:nvSpPr>
          <p:spPr>
            <a:xfrm>
              <a:off x="257765" y="171983"/>
              <a:ext cx="4810651" cy="923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Database Engine</a:t>
              </a:r>
              <a:r>
                <a:rPr lang="en-US" dirty="0"/>
                <a:t> API</a:t>
              </a:r>
              <a:endParaRPr dirty="0"/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Handles schema creation, binary reads/writes,</a:t>
              </a:r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cell-level updates and row deletions</a:t>
              </a:r>
            </a:p>
          </p:txBody>
        </p:sp>
        <p:sp>
          <p:nvSpPr>
            <p:cNvPr id="89" name="Rounded Rectangle"/>
            <p:cNvSpPr/>
            <p:nvPr/>
          </p:nvSpPr>
          <p:spPr>
            <a:xfrm>
              <a:off x="0" y="1570289"/>
              <a:ext cx="4885791" cy="1270001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90" name="SQL Interpreter…"/>
            <p:cNvSpPr txBox="1"/>
            <p:nvPr/>
          </p:nvSpPr>
          <p:spPr>
            <a:xfrm>
              <a:off x="269733" y="1705830"/>
              <a:ext cx="4810651" cy="1310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SQL Interpreter</a:t>
              </a:r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Parses SQL-like commands (CREATE, INSERT,SELECT, UPDATE, DELETE) into engine calls</a:t>
              </a:r>
            </a:p>
          </p:txBody>
        </p:sp>
        <p:sp>
          <p:nvSpPr>
            <p:cNvPr id="91" name="Rounded Rectangle"/>
            <p:cNvSpPr/>
            <p:nvPr/>
          </p:nvSpPr>
          <p:spPr>
            <a:xfrm>
              <a:off x="0" y="3140579"/>
              <a:ext cx="4885791" cy="1270001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92" name="Command-Line Interface…"/>
            <p:cNvSpPr txBox="1"/>
            <p:nvPr/>
          </p:nvSpPr>
          <p:spPr>
            <a:xfrm>
              <a:off x="222931" y="3276119"/>
              <a:ext cx="4810651" cy="1031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Command-Line Interface</a:t>
              </a:r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Interactive CLI for end-users to manage tables without writing C++ code</a:t>
              </a:r>
            </a:p>
          </p:txBody>
        </p:sp>
      </p:grpSp>
      <p:sp>
        <p:nvSpPr>
          <p:cNvPr id="94" name="Architecture Flow"/>
          <p:cNvSpPr txBox="1"/>
          <p:nvPr/>
        </p:nvSpPr>
        <p:spPr>
          <a:xfrm>
            <a:off x="544763" y="5204025"/>
            <a:ext cx="3765347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7325" indent="-174625">
              <a:spcBef>
                <a:spcPts val="600"/>
              </a:spcBef>
              <a:buSzPct val="100000"/>
              <a:buFont typeface="Arial"/>
              <a:buChar char="•"/>
              <a:tabLst>
                <a:tab pos="177800" algn="l"/>
              </a:tabLst>
              <a:defRPr sz="3600" b="1">
                <a:solidFill>
                  <a:srgbClr val="8ECAE6"/>
                </a:solidFill>
              </a:defRPr>
            </a:lvl1pPr>
          </a:lstStyle>
          <a:p>
            <a:pPr marL="12700" indent="0">
              <a:buNone/>
            </a:pPr>
            <a:r>
              <a:rPr sz="2000" dirty="0"/>
              <a:t>A</a:t>
            </a:r>
            <a:r>
              <a:rPr lang="en-US" sz="2000" dirty="0"/>
              <a:t>pplication</a:t>
            </a:r>
            <a:r>
              <a:rPr sz="2000" dirty="0"/>
              <a:t> Flow</a:t>
            </a:r>
          </a:p>
        </p:txBody>
      </p:sp>
      <p:sp>
        <p:nvSpPr>
          <p:cNvPr id="95" name="Rounded Rectangle"/>
          <p:cNvSpPr/>
          <p:nvPr/>
        </p:nvSpPr>
        <p:spPr>
          <a:xfrm>
            <a:off x="593457" y="5663335"/>
            <a:ext cx="1527969" cy="670561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96" name="Rounded Rectangle"/>
          <p:cNvSpPr/>
          <p:nvPr/>
        </p:nvSpPr>
        <p:spPr>
          <a:xfrm>
            <a:off x="7574302" y="5663335"/>
            <a:ext cx="1527970" cy="670561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97" name="Rounded Rectangle"/>
          <p:cNvSpPr/>
          <p:nvPr/>
        </p:nvSpPr>
        <p:spPr>
          <a:xfrm>
            <a:off x="2920405" y="5663335"/>
            <a:ext cx="1527970" cy="670561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98" name="Rounded Rectangle"/>
          <p:cNvSpPr/>
          <p:nvPr/>
        </p:nvSpPr>
        <p:spPr>
          <a:xfrm>
            <a:off x="5247354" y="5663335"/>
            <a:ext cx="1527970" cy="670561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99" name="User Input"/>
          <p:cNvSpPr txBox="1"/>
          <p:nvPr/>
        </p:nvSpPr>
        <p:spPr>
          <a:xfrm>
            <a:off x="730556" y="5794145"/>
            <a:ext cx="125377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User Input</a:t>
            </a:r>
          </a:p>
        </p:txBody>
      </p:sp>
      <p:sp>
        <p:nvSpPr>
          <p:cNvPr id="100" name="Interpreter"/>
          <p:cNvSpPr txBox="1"/>
          <p:nvPr/>
        </p:nvSpPr>
        <p:spPr>
          <a:xfrm>
            <a:off x="3027330" y="5794145"/>
            <a:ext cx="131412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Interpreter</a:t>
            </a:r>
          </a:p>
        </p:txBody>
      </p:sp>
      <p:sp>
        <p:nvSpPr>
          <p:cNvPr id="101" name="Engine API"/>
          <p:cNvSpPr txBox="1"/>
          <p:nvPr/>
        </p:nvSpPr>
        <p:spPr>
          <a:xfrm>
            <a:off x="5352564" y="5794145"/>
            <a:ext cx="131755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Engine API</a:t>
            </a:r>
          </a:p>
        </p:txBody>
      </p:sp>
      <p:sp>
        <p:nvSpPr>
          <p:cNvPr id="102" name=".bin Files"/>
          <p:cNvSpPr txBox="1"/>
          <p:nvPr/>
        </p:nvSpPr>
        <p:spPr>
          <a:xfrm>
            <a:off x="7791755" y="5794145"/>
            <a:ext cx="109649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.bin Files</a:t>
            </a:r>
          </a:p>
        </p:txBody>
      </p:sp>
      <p:sp>
        <p:nvSpPr>
          <p:cNvPr id="103" name="Line"/>
          <p:cNvSpPr/>
          <p:nvPr/>
        </p:nvSpPr>
        <p:spPr>
          <a:xfrm>
            <a:off x="2199250" y="5998615"/>
            <a:ext cx="613156" cy="1"/>
          </a:xfrm>
          <a:prstGeom prst="line">
            <a:avLst/>
          </a:prstGeom>
          <a:ln w="63500">
            <a:solidFill>
              <a:schemeClr val="accent1">
                <a:alpha val="59969"/>
              </a:schemeClr>
            </a:solidFill>
            <a:tailEnd type="triangle"/>
          </a:ln>
          <a:effectLst>
            <a:outerShdw blurRad="38100" dist="20000" dir="843963" rotWithShape="0">
              <a:srgbClr val="000000">
                <a:alpha val="2005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4" name="Line"/>
          <p:cNvSpPr/>
          <p:nvPr/>
        </p:nvSpPr>
        <p:spPr>
          <a:xfrm>
            <a:off x="4541286" y="5998615"/>
            <a:ext cx="613157" cy="1"/>
          </a:xfrm>
          <a:prstGeom prst="line">
            <a:avLst/>
          </a:prstGeom>
          <a:ln w="63500">
            <a:solidFill>
              <a:schemeClr val="accent1">
                <a:alpha val="80000"/>
              </a:schemeClr>
            </a:solidFill>
            <a:tailEnd type="triangle"/>
          </a:ln>
          <a:effectLst>
            <a:outerShdw blurRad="38100" dist="20000" dir="843963" rotWithShape="0">
              <a:srgbClr val="000000">
                <a:alpha val="2005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5" name="Line"/>
          <p:cNvSpPr/>
          <p:nvPr/>
        </p:nvSpPr>
        <p:spPr>
          <a:xfrm>
            <a:off x="6868235" y="5998615"/>
            <a:ext cx="613156" cy="1"/>
          </a:xfrm>
          <a:prstGeom prst="line">
            <a:avLst/>
          </a:prstGeom>
          <a:ln w="635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2005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4"/>
          <p:cNvSpPr txBox="1"/>
          <p:nvPr/>
        </p:nvSpPr>
        <p:spPr>
          <a:xfrm>
            <a:off x="5369473" y="6487783"/>
            <a:ext cx="1148716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lnSpc>
                <a:spcPts val="1200"/>
              </a:lnSpc>
              <a:defRPr sz="1200" spc="-10">
                <a:solidFill>
                  <a:srgbClr val="888888"/>
                </a:solidFill>
              </a:defRPr>
            </a:lvl1pPr>
          </a:lstStyle>
          <a:p>
            <a:r>
              <a:t>ICS2026/Jan26/SC</a:t>
            </a:r>
          </a:p>
        </p:txBody>
      </p:sp>
      <p:sp>
        <p:nvSpPr>
          <p:cNvPr id="108" name="object 2"/>
          <p:cNvSpPr txBox="1">
            <a:spLocks noGrp="1"/>
          </p:cNvSpPr>
          <p:nvPr>
            <p:ph type="title"/>
          </p:nvPr>
        </p:nvSpPr>
        <p:spPr>
          <a:xfrm>
            <a:off x="382922" y="260597"/>
            <a:ext cx="12065001" cy="695961"/>
          </a:xfrm>
          <a:prstGeom prst="rect">
            <a:avLst/>
          </a:prstGeom>
        </p:spPr>
        <p:txBody>
          <a:bodyPr>
            <a:normAutofit/>
          </a:bodyPr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3200" dirty="0"/>
              <a:t>Engine Architecture - Schema and Binary Storage</a:t>
            </a:r>
          </a:p>
        </p:txBody>
      </p:sp>
      <p:grpSp>
        <p:nvGrpSpPr>
          <p:cNvPr id="111" name="Group"/>
          <p:cNvGrpSpPr/>
          <p:nvPr/>
        </p:nvGrpSpPr>
        <p:grpSpPr>
          <a:xfrm>
            <a:off x="382922" y="1505464"/>
            <a:ext cx="4555273" cy="952501"/>
            <a:chOff x="0" y="0"/>
            <a:chExt cx="4555272" cy="952500"/>
          </a:xfrm>
        </p:grpSpPr>
        <p:sp>
          <p:nvSpPr>
            <p:cNvPr id="109" name="Rounded Rectangle"/>
            <p:cNvSpPr/>
            <p:nvPr/>
          </p:nvSpPr>
          <p:spPr>
            <a:xfrm>
              <a:off x="0" y="0"/>
              <a:ext cx="4445000" cy="952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0" name="table_name…"/>
            <p:cNvSpPr txBox="1"/>
            <p:nvPr/>
          </p:nvSpPr>
          <p:spPr>
            <a:xfrm>
              <a:off x="252704" y="115516"/>
              <a:ext cx="4302568" cy="7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table_name</a:t>
              </a:r>
              <a:endParaRPr dirty="0"/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Name of the table (max 255 chars)</a:t>
              </a:r>
            </a:p>
          </p:txBody>
        </p:sp>
      </p:grpSp>
      <p:grpSp>
        <p:nvGrpSpPr>
          <p:cNvPr id="114" name="Group"/>
          <p:cNvGrpSpPr/>
          <p:nvPr/>
        </p:nvGrpSpPr>
        <p:grpSpPr>
          <a:xfrm>
            <a:off x="396321" y="2859817"/>
            <a:ext cx="5049957" cy="952501"/>
            <a:chOff x="0" y="0"/>
            <a:chExt cx="5049956" cy="952500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4445000" cy="952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3" name="num_cols | num_rows…"/>
            <p:cNvSpPr txBox="1"/>
            <p:nvPr/>
          </p:nvSpPr>
          <p:spPr>
            <a:xfrm>
              <a:off x="239305" y="100329"/>
              <a:ext cx="4810651" cy="7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num_cols</a:t>
              </a:r>
              <a:r>
                <a:rPr dirty="0"/>
                <a:t> | </a:t>
              </a:r>
              <a:r>
                <a:rPr dirty="0" err="1"/>
                <a:t>num_rows</a:t>
              </a:r>
              <a:endParaRPr dirty="0"/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Column count and current row count</a:t>
              </a:r>
            </a:p>
          </p:txBody>
        </p:sp>
      </p:grpSp>
      <p:grpSp>
        <p:nvGrpSpPr>
          <p:cNvPr id="117" name="Group"/>
          <p:cNvGrpSpPr/>
          <p:nvPr/>
        </p:nvGrpSpPr>
        <p:grpSpPr>
          <a:xfrm>
            <a:off x="382922" y="4195116"/>
            <a:ext cx="4622565" cy="952501"/>
            <a:chOff x="0" y="0"/>
            <a:chExt cx="4622564" cy="952500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4445000" cy="952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16" name="total_row_len_in_bytes…"/>
            <p:cNvSpPr txBox="1"/>
            <p:nvPr/>
          </p:nvSpPr>
          <p:spPr>
            <a:xfrm>
              <a:off x="252704" y="143228"/>
              <a:ext cx="4369860" cy="75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 err="1"/>
                <a:t>total_row_len_in_bytes</a:t>
              </a:r>
              <a:endParaRPr dirty="0"/>
            </a:p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Fixed byte size of one row</a:t>
              </a:r>
            </a:p>
          </p:txBody>
        </p:sp>
      </p:grpSp>
      <p:sp>
        <p:nvSpPr>
          <p:cNvPr id="118" name="Rounded Rectangle"/>
          <p:cNvSpPr/>
          <p:nvPr/>
        </p:nvSpPr>
        <p:spPr>
          <a:xfrm>
            <a:off x="400144" y="5440390"/>
            <a:ext cx="4410556" cy="945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19" name="column_data[]…"/>
          <p:cNvSpPr txBox="1"/>
          <p:nvPr/>
        </p:nvSpPr>
        <p:spPr>
          <a:xfrm>
            <a:off x="669489" y="5539942"/>
            <a:ext cx="4335998" cy="74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200" b="1">
                <a:solidFill>
                  <a:schemeClr val="accent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 err="1"/>
              <a:t>column_data</a:t>
            </a:r>
            <a:r>
              <a:rPr dirty="0"/>
              <a:t>[]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Per column - name, type, </a:t>
            </a:r>
            <a:r>
              <a:rPr dirty="0" err="1"/>
              <a:t>is_pk</a:t>
            </a:r>
            <a:r>
              <a:rPr dirty="0"/>
              <a:t>, </a:t>
            </a:r>
            <a:r>
              <a:rPr dirty="0" err="1"/>
              <a:t>max_str_len</a:t>
            </a:r>
            <a:endParaRPr dirty="0"/>
          </a:p>
        </p:txBody>
      </p:sp>
      <p:graphicFrame>
        <p:nvGraphicFramePr>
          <p:cNvPr id="120" name="Table 1"/>
          <p:cNvGraphicFramePr/>
          <p:nvPr>
            <p:extLst>
              <p:ext uri="{D42A27DB-BD31-4B8C-83A1-F6EECF244321}">
                <p14:modId xmlns:p14="http://schemas.microsoft.com/office/powerpoint/2010/main" val="131664825"/>
              </p:ext>
            </p:extLst>
          </p:nvPr>
        </p:nvGraphicFramePr>
        <p:xfrm>
          <a:off x="5507883" y="1461631"/>
          <a:ext cx="6540500" cy="249682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047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b="0" spc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b="0" spc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b="0" spc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INT</a:t>
                      </a:r>
                    </a:p>
                  </a:txBody>
                  <a:tcPr marL="0" marR="0" marT="0" marB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4 bytes</a:t>
                      </a:r>
                    </a:p>
                  </a:txBody>
                  <a:tcPr marL="0" marR="0" marT="0" marB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Signed 32-bit integer</a:t>
                      </a:r>
                    </a:p>
                  </a:txBody>
                  <a:tcPr marL="0" marR="0" marT="0" marB="0" horzOverflow="overflow"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UNSIGNED_INT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4 bytes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Unsigned 32-bit int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STRING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Variable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Fixed-length char array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BOOLEAN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1 byte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True / False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FLOAT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4 bytes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Floating Point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DOUBLE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8 bytes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Double precision floating point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UNSIGNED_CHAR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t>1 byte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dirty="0"/>
                        <a:t>Unsigned 8-bit char</a:t>
                      </a:r>
                    </a:p>
                  </a:txBody>
                  <a:tcPr marL="0" marR="0" marT="0" marB="0" horzOverflow="overflow"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1" name="Schema Structure"/>
          <p:cNvSpPr txBox="1"/>
          <p:nvPr/>
        </p:nvSpPr>
        <p:spPr>
          <a:xfrm>
            <a:off x="396321" y="934982"/>
            <a:ext cx="232852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600"/>
              </a:spcBef>
              <a:tabLst>
                <a:tab pos="177800" algn="l"/>
              </a:tabLst>
              <a:defRPr sz="36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 dirty="0"/>
              <a:t>Schema Structure</a:t>
            </a:r>
          </a:p>
        </p:txBody>
      </p:sp>
      <p:sp>
        <p:nvSpPr>
          <p:cNvPr id="122" name="Supported Data Types"/>
          <p:cNvSpPr txBox="1"/>
          <p:nvPr/>
        </p:nvSpPr>
        <p:spPr>
          <a:xfrm>
            <a:off x="7561775" y="988243"/>
            <a:ext cx="243271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600"/>
              </a:spcBef>
              <a:tabLst>
                <a:tab pos="177800" algn="l"/>
              </a:tabLst>
              <a:defRPr sz="36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000" dirty="0"/>
              <a:t>Supported Data Types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ject 2"/>
          <p:cNvSpPr txBox="1">
            <a:spLocks noGrp="1"/>
          </p:cNvSpPr>
          <p:nvPr>
            <p:ph type="title"/>
          </p:nvPr>
        </p:nvSpPr>
        <p:spPr>
          <a:xfrm>
            <a:off x="568830" y="277611"/>
            <a:ext cx="12065000" cy="695961"/>
          </a:xfrm>
          <a:prstGeom prst="rect">
            <a:avLst/>
          </a:prstGeom>
        </p:spPr>
        <p:txBody>
          <a:bodyPr>
            <a:normAutofit/>
          </a:bodyPr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3200" dirty="0"/>
              <a:t>Data Operations - CRUD via Engine</a:t>
            </a:r>
          </a:p>
        </p:txBody>
      </p:sp>
      <p:grpSp>
        <p:nvGrpSpPr>
          <p:cNvPr id="127" name="Group"/>
          <p:cNvGrpSpPr/>
          <p:nvPr/>
        </p:nvGrpSpPr>
        <p:grpSpPr>
          <a:xfrm>
            <a:off x="345876" y="1003300"/>
            <a:ext cx="5044270" cy="1221483"/>
            <a:chOff x="0" y="0"/>
            <a:chExt cx="4833717" cy="1221482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4762500" cy="1221482"/>
            </a:xfrm>
            <a:prstGeom prst="roundRect">
              <a:avLst>
                <a:gd name="adj" fmla="val 15596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26" name="Create…"/>
            <p:cNvSpPr txBox="1"/>
            <p:nvPr/>
          </p:nvSpPr>
          <p:spPr>
            <a:xfrm>
              <a:off x="213649" y="95120"/>
              <a:ext cx="4620068" cy="1031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Create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Defines schema; writes two binary files to disk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Returns 0 on success,−1 on name overflow</a:t>
              </a:r>
            </a:p>
          </p:txBody>
        </p:sp>
      </p:grpSp>
      <p:grpSp>
        <p:nvGrpSpPr>
          <p:cNvPr id="130" name="Group"/>
          <p:cNvGrpSpPr/>
          <p:nvPr/>
        </p:nvGrpSpPr>
        <p:grpSpPr>
          <a:xfrm>
            <a:off x="345876" y="2593340"/>
            <a:ext cx="5044270" cy="1617383"/>
            <a:chOff x="0" y="0"/>
            <a:chExt cx="4833717" cy="1617382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4762500" cy="1617382"/>
            </a:xfrm>
            <a:prstGeom prst="roundRect">
              <a:avLst>
                <a:gd name="adj" fmla="val 11778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29" name="Insert…"/>
            <p:cNvSpPr txBox="1"/>
            <p:nvPr/>
          </p:nvSpPr>
          <p:spPr>
            <a:xfrm>
              <a:off x="213649" y="51104"/>
              <a:ext cx="4620068" cy="14157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Insert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Appends fixed-width binary row to data file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Row is </a:t>
              </a:r>
              <a:r>
                <a:rPr b="1" dirty="0"/>
                <a:t>vector&lt;</a:t>
              </a:r>
              <a:r>
                <a:rPr b="1" dirty="0" err="1"/>
                <a:t>row_data_t</a:t>
              </a:r>
              <a:r>
                <a:rPr b="1" dirty="0"/>
                <a:t>&gt; </a:t>
              </a:r>
              <a:r>
                <a:rPr dirty="0"/>
                <a:t>one </a:t>
              </a:r>
              <a:r>
                <a:rPr b="1" dirty="0" err="1"/>
                <a:t>shared_ptr</a:t>
              </a:r>
              <a:r>
                <a:rPr dirty="0"/>
                <a:t> per column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Updates </a:t>
              </a:r>
              <a:r>
                <a:rPr b="1" dirty="0" err="1"/>
                <a:t>schema.num_rows</a:t>
              </a:r>
              <a:r>
                <a:rPr b="1" dirty="0"/>
                <a:t> </a:t>
              </a:r>
              <a:r>
                <a:rPr dirty="0"/>
                <a:t>automatically</a:t>
              </a:r>
            </a:p>
          </p:txBody>
        </p:sp>
      </p:grpSp>
      <p:grpSp>
        <p:nvGrpSpPr>
          <p:cNvPr id="133" name="Group"/>
          <p:cNvGrpSpPr/>
          <p:nvPr/>
        </p:nvGrpSpPr>
        <p:grpSpPr>
          <a:xfrm>
            <a:off x="345875" y="4633218"/>
            <a:ext cx="5044271" cy="1847405"/>
            <a:chOff x="0" y="0"/>
            <a:chExt cx="4833717" cy="1617382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4762500" cy="1617382"/>
            </a:xfrm>
            <a:prstGeom prst="roundRect">
              <a:avLst>
                <a:gd name="adj" fmla="val 11778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32" name="Select / Read…"/>
            <p:cNvSpPr txBox="1"/>
            <p:nvPr/>
          </p:nvSpPr>
          <p:spPr>
            <a:xfrm>
              <a:off x="213649" y="159701"/>
              <a:ext cx="4620068" cy="12394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rPr dirty="0"/>
                <a:t>Select / Read</a:t>
              </a:r>
              <a:endParaRPr sz="996" dirty="0">
                <a:solidFill>
                  <a:srgbClr val="34728D"/>
                </a:solidFill>
              </a:endParaRP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Reads a single cell by row &amp; col index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Returns </a:t>
              </a:r>
              <a:r>
                <a:rPr b="1" dirty="0" err="1"/>
                <a:t>cell_data_t</a:t>
              </a:r>
              <a:r>
                <a:rPr b="1" dirty="0"/>
                <a:t> </a:t>
              </a:r>
              <a:r>
                <a:rPr dirty="0"/>
                <a:t>with type tag and </a:t>
              </a:r>
              <a:r>
                <a:rPr b="1" dirty="0" err="1"/>
                <a:t>shared_ptr</a:t>
              </a:r>
              <a:r>
                <a:rPr b="1" dirty="0"/>
                <a:t> </a:t>
              </a:r>
              <a:r>
                <a:rPr dirty="0"/>
                <a:t>to value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Returns </a:t>
              </a:r>
              <a:r>
                <a:rPr b="1" dirty="0"/>
                <a:t>NULL_TYPE</a:t>
              </a:r>
              <a:r>
                <a:rPr dirty="0"/>
                <a:t> if row/col out of bounds</a:t>
              </a:r>
            </a:p>
          </p:txBody>
        </p:sp>
      </p:grpSp>
      <p:sp>
        <p:nvSpPr>
          <p:cNvPr id="134" name="Rounded Rectangle"/>
          <p:cNvSpPr/>
          <p:nvPr/>
        </p:nvSpPr>
        <p:spPr>
          <a:xfrm>
            <a:off x="6679962" y="1003301"/>
            <a:ext cx="4762501" cy="1337982"/>
          </a:xfrm>
          <a:prstGeom prst="roundRect">
            <a:avLst>
              <a:gd name="adj" fmla="val 1198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5" name="Update…"/>
          <p:cNvSpPr txBox="1"/>
          <p:nvPr/>
        </p:nvSpPr>
        <p:spPr>
          <a:xfrm>
            <a:off x="6876175" y="1106823"/>
            <a:ext cx="4620068" cy="159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200" b="1">
                <a:solidFill>
                  <a:schemeClr val="accent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Update</a:t>
            </a:r>
            <a:endParaRPr sz="996" dirty="0">
              <a:solidFill>
                <a:srgbClr val="34728D"/>
              </a:solidFill>
            </a:endParaRP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Overwrites one cell in-place on disk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Enforces type matching (−2 on mismatch)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String truncated to </a:t>
            </a:r>
            <a:r>
              <a:rPr dirty="0" err="1"/>
              <a:t>max_str_len</a:t>
            </a:r>
            <a:r>
              <a:rPr dirty="0"/>
              <a:t> if too long (−1)</a:t>
            </a:r>
          </a:p>
        </p:txBody>
      </p:sp>
      <p:sp>
        <p:nvSpPr>
          <p:cNvPr id="136" name="Rounded Rectangle"/>
          <p:cNvSpPr/>
          <p:nvPr/>
        </p:nvSpPr>
        <p:spPr>
          <a:xfrm>
            <a:off x="6679961" y="2644444"/>
            <a:ext cx="4762501" cy="1337982"/>
          </a:xfrm>
          <a:prstGeom prst="roundRect">
            <a:avLst>
              <a:gd name="adj" fmla="val 14238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7" name="Delete…"/>
          <p:cNvSpPr txBox="1"/>
          <p:nvPr/>
        </p:nvSpPr>
        <p:spPr>
          <a:xfrm>
            <a:off x="6876175" y="2746710"/>
            <a:ext cx="4620068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200" b="1">
                <a:solidFill>
                  <a:schemeClr val="accent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Delete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Rewrites entire table excluding the target row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Subsequent rows shift down by one index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 err="1"/>
              <a:t>schema.num_rows</a:t>
            </a:r>
            <a:r>
              <a:rPr dirty="0"/>
              <a:t> decremented automatically</a:t>
            </a:r>
          </a:p>
        </p:txBody>
      </p:sp>
      <p:sp>
        <p:nvSpPr>
          <p:cNvPr id="138" name="All file I/O is immediate no buffering layer.…"/>
          <p:cNvSpPr txBox="1"/>
          <p:nvPr/>
        </p:nvSpPr>
        <p:spPr>
          <a:xfrm>
            <a:off x="6679961" y="4925058"/>
            <a:ext cx="6131389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tabLst>
                <a:tab pos="177800" algn="l"/>
              </a:tabLst>
              <a:defRPr sz="22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All file I/O is immediate no buffering layer.</a:t>
            </a:r>
          </a:p>
          <a:p>
            <a:pPr>
              <a:spcBef>
                <a:spcPts val="600"/>
              </a:spcBef>
              <a:tabLst>
                <a:tab pos="177800" algn="l"/>
              </a:tabLst>
              <a:defRPr sz="22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Data is persisted to disk on every call.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 txBox="1">
            <a:spLocks noGrp="1"/>
          </p:cNvSpPr>
          <p:nvPr>
            <p:ph type="title"/>
          </p:nvPr>
        </p:nvSpPr>
        <p:spPr>
          <a:xfrm>
            <a:off x="203199" y="153223"/>
            <a:ext cx="12065000" cy="695961"/>
          </a:xfrm>
          <a:prstGeom prst="rect">
            <a:avLst/>
          </a:prstGeom>
        </p:spPr>
        <p:txBody>
          <a:bodyPr/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Engine API - How developers can use it</a:t>
            </a:r>
          </a:p>
        </p:txBody>
      </p:sp>
      <p:sp>
        <p:nvSpPr>
          <p:cNvPr id="141" name="The engine is a self-contained C++ library. Embed it by including the five headers below."/>
          <p:cNvSpPr txBox="1"/>
          <p:nvPr/>
        </p:nvSpPr>
        <p:spPr>
          <a:xfrm>
            <a:off x="98920" y="941575"/>
            <a:ext cx="1199415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tabLst>
                <a:tab pos="177800" algn="l"/>
              </a:tabLst>
              <a:defRPr sz="22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The engine is a self-contained C++ library. Embed it by including the five headers below.</a:t>
            </a:r>
          </a:p>
        </p:txBody>
      </p:sp>
      <p:pic>
        <p:nvPicPr>
          <p:cNvPr id="142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425"/>
            <a:ext cx="12192001" cy="152514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6" name="Group"/>
          <p:cNvGrpSpPr/>
          <p:nvPr/>
        </p:nvGrpSpPr>
        <p:grpSpPr>
          <a:xfrm>
            <a:off x="134121" y="3757828"/>
            <a:ext cx="3355662" cy="2793034"/>
            <a:chOff x="0" y="0"/>
            <a:chExt cx="3355660" cy="2793033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3355660" cy="2793033"/>
            </a:xfrm>
            <a:prstGeom prst="roundRect">
              <a:avLst>
                <a:gd name="adj" fmla="val 6821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44" name="Build a schema_t using vector&lt;col_item_t&gt;…"/>
            <p:cNvSpPr txBox="1"/>
            <p:nvPr/>
          </p:nvSpPr>
          <p:spPr>
            <a:xfrm>
              <a:off x="69078" y="645849"/>
              <a:ext cx="3217504" cy="1323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Build a </a:t>
              </a:r>
              <a:r>
                <a:rPr b="1" dirty="0" err="1"/>
                <a:t>schema_t</a:t>
              </a:r>
              <a:r>
                <a:rPr b="1" dirty="0"/>
                <a:t> </a:t>
              </a:r>
              <a:r>
                <a:rPr dirty="0"/>
                <a:t>using </a:t>
              </a:r>
              <a:r>
                <a:rPr b="1" dirty="0"/>
                <a:t>vector&lt;</a:t>
              </a:r>
              <a:r>
                <a:rPr b="1" dirty="0" err="1"/>
                <a:t>col_item_t</a:t>
              </a:r>
              <a:r>
                <a:rPr b="1" dirty="0"/>
                <a:t>&gt;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Define </a:t>
              </a:r>
              <a:r>
                <a:rPr b="1" dirty="0" err="1"/>
                <a:t>data_type</a:t>
              </a:r>
              <a:r>
                <a:rPr b="1" dirty="0"/>
                <a:t>, </a:t>
              </a:r>
              <a:r>
                <a:rPr b="1" dirty="0" err="1"/>
                <a:t>col_name</a:t>
              </a:r>
              <a:r>
                <a:rPr b="1" dirty="0"/>
                <a:t>, and primary key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Set </a:t>
              </a:r>
              <a:r>
                <a:rPr b="1" dirty="0" err="1"/>
                <a:t>max_str_len</a:t>
              </a:r>
              <a:r>
                <a:rPr b="1" dirty="0"/>
                <a:t> </a:t>
              </a:r>
              <a:r>
                <a:rPr dirty="0"/>
                <a:t>for string columns</a:t>
              </a:r>
            </a:p>
          </p:txBody>
        </p:sp>
        <p:sp>
          <p:nvSpPr>
            <p:cNvPr id="145" name="Define Schema"/>
            <p:cNvSpPr txBox="1"/>
            <p:nvPr/>
          </p:nvSpPr>
          <p:spPr>
            <a:xfrm>
              <a:off x="118247" y="104448"/>
              <a:ext cx="214208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Define Schema</a:t>
              </a:r>
            </a:p>
          </p:txBody>
        </p:sp>
      </p:grpSp>
      <p:grpSp>
        <p:nvGrpSpPr>
          <p:cNvPr id="150" name="Group"/>
          <p:cNvGrpSpPr/>
          <p:nvPr/>
        </p:nvGrpSpPr>
        <p:grpSpPr>
          <a:xfrm>
            <a:off x="4418170" y="3757828"/>
            <a:ext cx="3355661" cy="2793034"/>
            <a:chOff x="0" y="0"/>
            <a:chExt cx="3355660" cy="2793033"/>
          </a:xfrm>
        </p:grpSpPr>
        <p:sp>
          <p:nvSpPr>
            <p:cNvPr id="147" name="Rounded Rectangle"/>
            <p:cNvSpPr/>
            <p:nvPr/>
          </p:nvSpPr>
          <p:spPr>
            <a:xfrm>
              <a:off x="0" y="0"/>
              <a:ext cx="3355660" cy="2793033"/>
            </a:xfrm>
            <a:prstGeom prst="roundRect">
              <a:avLst>
                <a:gd name="adj" fmla="val 6821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48" name="Run create_new_table_schema() once…"/>
            <p:cNvSpPr txBox="1"/>
            <p:nvPr/>
          </p:nvSpPr>
          <p:spPr>
            <a:xfrm>
              <a:off x="69078" y="645849"/>
              <a:ext cx="3217504" cy="13234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Run </a:t>
              </a:r>
              <a:r>
                <a:rPr b="1" dirty="0" err="1"/>
                <a:t>create_new_table_schema</a:t>
              </a:r>
              <a:r>
                <a:rPr b="1" dirty="0"/>
                <a:t>() </a:t>
              </a:r>
              <a:r>
                <a:rPr dirty="0"/>
                <a:t>once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Build </a:t>
              </a:r>
              <a:r>
                <a:rPr b="1" dirty="0"/>
                <a:t>vector&lt;</a:t>
              </a:r>
              <a:r>
                <a:rPr b="1" dirty="0" err="1"/>
                <a:t>row_data_t</a:t>
              </a:r>
              <a:r>
                <a:rPr b="1" dirty="0"/>
                <a:t>&gt;</a:t>
              </a:r>
              <a:r>
                <a:rPr lang="en-US" b="1" dirty="0"/>
                <a:t> </a:t>
              </a:r>
              <a:r>
                <a:rPr dirty="0"/>
                <a:t>rows</a:t>
              </a:r>
            </a:p>
            <a:p>
              <a:pPr marL="160421" indent="-160421" defTabSz="12700">
                <a:buSzPct val="100000"/>
                <a:buChar char="•"/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1600">
                  <a:solidFill>
                    <a:srgbClr val="2E2E2E"/>
                  </a:solidFill>
                  <a:latin typeface="Avenir Next Demi Bold"/>
                  <a:ea typeface="Avenir Next Demi Bold"/>
                  <a:cs typeface="Avenir Next Demi Bold"/>
                  <a:sym typeface="Avenir Next Demi Bold"/>
                </a:defRPr>
              </a:pPr>
              <a:r>
                <a:rPr dirty="0"/>
                <a:t>Insert using </a:t>
              </a:r>
              <a:r>
                <a:rPr b="1" dirty="0" err="1"/>
                <a:t>append_record_to_table</a:t>
              </a:r>
              <a:r>
                <a:rPr b="1" dirty="0"/>
                <a:t>()</a:t>
              </a:r>
            </a:p>
          </p:txBody>
        </p:sp>
        <p:sp>
          <p:nvSpPr>
            <p:cNvPr id="149" name="Create Table | Insert"/>
            <p:cNvSpPr txBox="1"/>
            <p:nvPr/>
          </p:nvSpPr>
          <p:spPr>
            <a:xfrm>
              <a:off x="118247" y="104448"/>
              <a:ext cx="2763191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1">
                  <a:solidFill>
                    <a:schemeClr val="accent1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Create Table | Insert</a:t>
              </a:r>
            </a:p>
          </p:txBody>
        </p:sp>
      </p:grpSp>
      <p:sp>
        <p:nvSpPr>
          <p:cNvPr id="151" name="Rounded Rectangle"/>
          <p:cNvSpPr/>
          <p:nvPr/>
        </p:nvSpPr>
        <p:spPr>
          <a:xfrm>
            <a:off x="8702218" y="3757828"/>
            <a:ext cx="3355661" cy="2793033"/>
          </a:xfrm>
          <a:prstGeom prst="roundRect">
            <a:avLst>
              <a:gd name="adj" fmla="val 682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2" name="Load schema: get_schema_from_schema()…"/>
          <p:cNvSpPr txBox="1"/>
          <p:nvPr/>
        </p:nvSpPr>
        <p:spPr>
          <a:xfrm>
            <a:off x="8771296" y="4422349"/>
            <a:ext cx="3217505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Load schema: </a:t>
            </a:r>
            <a:r>
              <a:rPr b="1" dirty="0" err="1"/>
              <a:t>get_schema_from_schema</a:t>
            </a:r>
            <a:r>
              <a:rPr b="1" dirty="0"/>
              <a:t>()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Read cells: </a:t>
            </a:r>
            <a:r>
              <a:rPr b="1" dirty="0" err="1"/>
              <a:t>get_table_cell_data</a:t>
            </a:r>
            <a:r>
              <a:rPr b="1" dirty="0"/>
              <a:t>()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Update: </a:t>
            </a:r>
            <a:r>
              <a:rPr b="1" dirty="0" err="1"/>
              <a:t>cell_data_modify</a:t>
            </a:r>
            <a:r>
              <a:rPr b="1" dirty="0"/>
              <a:t>()</a:t>
            </a:r>
          </a:p>
          <a:p>
            <a:pPr marL="160421" indent="-160421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2E2E2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pPr>
            <a:r>
              <a:rPr dirty="0"/>
              <a:t>Delete rows with </a:t>
            </a:r>
            <a:r>
              <a:rPr b="1" dirty="0"/>
              <a:t>delete</a:t>
            </a:r>
            <a:r>
              <a:rPr dirty="0"/>
              <a:t> API</a:t>
            </a:r>
          </a:p>
        </p:txBody>
      </p:sp>
      <p:sp>
        <p:nvSpPr>
          <p:cNvPr id="153" name="Read, Modify, Delete"/>
          <p:cNvSpPr txBox="1"/>
          <p:nvPr/>
        </p:nvSpPr>
        <p:spPr>
          <a:xfrm>
            <a:off x="8820466" y="3862277"/>
            <a:ext cx="2946477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200" b="1">
                <a:solidFill>
                  <a:schemeClr val="accent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Read, Modify, Delete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bject 2"/>
          <p:cNvSpPr txBox="1">
            <a:spLocks noGrp="1"/>
          </p:cNvSpPr>
          <p:nvPr>
            <p:ph type="title"/>
          </p:nvPr>
        </p:nvSpPr>
        <p:spPr>
          <a:xfrm>
            <a:off x="356808" y="270231"/>
            <a:ext cx="5352433" cy="695961"/>
          </a:xfrm>
          <a:prstGeom prst="rect">
            <a:avLst/>
          </a:prstGeom>
        </p:spPr>
        <p:txBody>
          <a:bodyPr>
            <a:normAutofit/>
          </a:bodyPr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3200" dirty="0"/>
              <a:t>Parser and Interpreter</a:t>
            </a:r>
          </a:p>
        </p:txBody>
      </p:sp>
      <p:sp>
        <p:nvSpPr>
          <p:cNvPr id="156" name="object 3"/>
          <p:cNvSpPr txBox="1"/>
          <p:nvPr/>
        </p:nvSpPr>
        <p:spPr>
          <a:xfrm>
            <a:off x="356808" y="1360070"/>
            <a:ext cx="5680087" cy="369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1600" dirty="0"/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A complete file-based DBMS</a:t>
            </a:r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No external database server required</a:t>
            </a:r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Data persisted in binary files on disk</a:t>
            </a:r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Custom SQL-like interpreter &amp; CLI</a:t>
            </a:r>
            <a:br>
              <a:rPr lang="en-US" sz="1600" dirty="0"/>
            </a:br>
            <a:endParaRPr sz="1600" dirty="0"/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Input string is tokenized, splits on whitespace, parenthesis, commas, semicolons</a:t>
            </a:r>
            <a:endParaRPr lang="en-US" sz="1600" dirty="0"/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Keywords are case-insensitive; table/column names are case-sensitive</a:t>
            </a:r>
            <a:endParaRPr lang="en-US" sz="1600" dirty="0"/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1600" dirty="0"/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Values are type-coerced: strings in quotes, bool (true/false), </a:t>
            </a:r>
            <a:r>
              <a:rPr sz="1600" dirty="0" err="1"/>
              <a:t>numerics</a:t>
            </a:r>
            <a:r>
              <a:rPr sz="1600" dirty="0"/>
              <a:t> auto-cast</a:t>
            </a:r>
          </a:p>
          <a:p>
            <a:pPr marL="180473" indent="-180473">
              <a:buSzPct val="100000"/>
              <a:buChar char="•"/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600" dirty="0"/>
              <a:t>Every command must end with a semicolon, with a C++ compiler</a:t>
            </a:r>
          </a:p>
          <a:p>
            <a:pPr marL="561473" lvl="1" indent="-180473" defTabSz="457200">
              <a:buSzPct val="100000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endParaRPr sz="1600" dirty="0"/>
          </a:p>
        </p:txBody>
      </p:sp>
      <p:sp>
        <p:nvSpPr>
          <p:cNvPr id="157" name="How it works"/>
          <p:cNvSpPr txBox="1"/>
          <p:nvPr/>
        </p:nvSpPr>
        <p:spPr>
          <a:xfrm>
            <a:off x="419609" y="1160015"/>
            <a:ext cx="327070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tabLst>
                <a:tab pos="177800" algn="l"/>
              </a:tabLst>
              <a:defRPr sz="36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000" dirty="0"/>
              <a:t>How it works</a:t>
            </a:r>
          </a:p>
        </p:txBody>
      </p:sp>
      <p:grpSp>
        <p:nvGrpSpPr>
          <p:cNvPr id="160" name="Group"/>
          <p:cNvGrpSpPr/>
          <p:nvPr/>
        </p:nvGrpSpPr>
        <p:grpSpPr>
          <a:xfrm>
            <a:off x="127686" y="5513125"/>
            <a:ext cx="1527969" cy="670561"/>
            <a:chOff x="0" y="0"/>
            <a:chExt cx="1527968" cy="670559"/>
          </a:xfrm>
        </p:grpSpPr>
        <p:sp>
          <p:nvSpPr>
            <p:cNvPr id="158" name="Rounded Rectangle"/>
            <p:cNvSpPr/>
            <p:nvPr/>
          </p:nvSpPr>
          <p:spPr>
            <a:xfrm>
              <a:off x="0" y="0"/>
              <a:ext cx="1527969" cy="67056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59" name="Raw Input"/>
            <p:cNvSpPr txBox="1"/>
            <p:nvPr/>
          </p:nvSpPr>
          <p:spPr>
            <a:xfrm>
              <a:off x="67747" y="205740"/>
              <a:ext cx="1392476" cy="259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200" b="1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Raw Input</a:t>
              </a:r>
            </a:p>
          </p:txBody>
        </p:sp>
      </p:grpSp>
      <p:sp>
        <p:nvSpPr>
          <p:cNvPr id="161" name="Line"/>
          <p:cNvSpPr/>
          <p:nvPr/>
        </p:nvSpPr>
        <p:spPr>
          <a:xfrm>
            <a:off x="1736581" y="5848405"/>
            <a:ext cx="354716" cy="1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7751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pSp>
        <p:nvGrpSpPr>
          <p:cNvPr id="164" name="Group"/>
          <p:cNvGrpSpPr/>
          <p:nvPr/>
        </p:nvGrpSpPr>
        <p:grpSpPr>
          <a:xfrm>
            <a:off x="2172222" y="5513125"/>
            <a:ext cx="1527970" cy="670561"/>
            <a:chOff x="0" y="0"/>
            <a:chExt cx="1527968" cy="670559"/>
          </a:xfrm>
        </p:grpSpPr>
        <p:sp>
          <p:nvSpPr>
            <p:cNvPr id="162" name="Rounded Rectangle"/>
            <p:cNvSpPr/>
            <p:nvPr/>
          </p:nvSpPr>
          <p:spPr>
            <a:xfrm>
              <a:off x="0" y="0"/>
              <a:ext cx="1527969" cy="67056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63" name="Tokenizer"/>
            <p:cNvSpPr txBox="1"/>
            <p:nvPr/>
          </p:nvSpPr>
          <p:spPr>
            <a:xfrm>
              <a:off x="67747" y="205740"/>
              <a:ext cx="1392476" cy="259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200" b="1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rPr dirty="0"/>
                <a:t>Tokenizer</a:t>
              </a:r>
            </a:p>
          </p:txBody>
        </p:sp>
      </p:grpSp>
      <p:sp>
        <p:nvSpPr>
          <p:cNvPr id="165" name="Rounded Rectangle"/>
          <p:cNvSpPr/>
          <p:nvPr/>
        </p:nvSpPr>
        <p:spPr>
          <a:xfrm>
            <a:off x="4216759" y="5513125"/>
            <a:ext cx="1527970" cy="670561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 sz="1400"/>
            </a:pPr>
            <a:endParaRPr/>
          </a:p>
        </p:txBody>
      </p:sp>
      <p:sp>
        <p:nvSpPr>
          <p:cNvPr id="166" name="Command…"/>
          <p:cNvSpPr txBox="1"/>
          <p:nvPr/>
        </p:nvSpPr>
        <p:spPr>
          <a:xfrm>
            <a:off x="4228656" y="5604921"/>
            <a:ext cx="1538059" cy="710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 sz="1200"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Command</a:t>
            </a:r>
          </a:p>
          <a:p>
            <a:pPr algn="ctr">
              <a:defRPr sz="1200"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Classifier</a:t>
            </a:r>
          </a:p>
        </p:txBody>
      </p:sp>
      <p:grpSp>
        <p:nvGrpSpPr>
          <p:cNvPr id="169" name="Group"/>
          <p:cNvGrpSpPr/>
          <p:nvPr/>
        </p:nvGrpSpPr>
        <p:grpSpPr>
          <a:xfrm>
            <a:off x="6306473" y="5513125"/>
            <a:ext cx="1527970" cy="670561"/>
            <a:chOff x="0" y="0"/>
            <a:chExt cx="1527968" cy="670559"/>
          </a:xfrm>
        </p:grpSpPr>
        <p:sp>
          <p:nvSpPr>
            <p:cNvPr id="167" name="Rounded Rectangle"/>
            <p:cNvSpPr/>
            <p:nvPr/>
          </p:nvSpPr>
          <p:spPr>
            <a:xfrm>
              <a:off x="0" y="0"/>
              <a:ext cx="1527969" cy="67056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68" name="Statement Parser"/>
            <p:cNvSpPr txBox="1"/>
            <p:nvPr/>
          </p:nvSpPr>
          <p:spPr>
            <a:xfrm>
              <a:off x="67747" y="205740"/>
              <a:ext cx="1392476" cy="259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200" b="1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Statement Parser</a:t>
              </a:r>
            </a:p>
          </p:txBody>
        </p:sp>
      </p:grpSp>
      <p:grpSp>
        <p:nvGrpSpPr>
          <p:cNvPr id="172" name="Group"/>
          <p:cNvGrpSpPr/>
          <p:nvPr/>
        </p:nvGrpSpPr>
        <p:grpSpPr>
          <a:xfrm>
            <a:off x="8396187" y="5513125"/>
            <a:ext cx="1527970" cy="670561"/>
            <a:chOff x="0" y="0"/>
            <a:chExt cx="1527968" cy="670559"/>
          </a:xfrm>
        </p:grpSpPr>
        <p:sp>
          <p:nvSpPr>
            <p:cNvPr id="170" name="Rounded Rectangle"/>
            <p:cNvSpPr/>
            <p:nvPr/>
          </p:nvSpPr>
          <p:spPr>
            <a:xfrm>
              <a:off x="0" y="0"/>
              <a:ext cx="1527969" cy="67056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71" name="Engine API Call"/>
            <p:cNvSpPr txBox="1"/>
            <p:nvPr/>
          </p:nvSpPr>
          <p:spPr>
            <a:xfrm>
              <a:off x="67747" y="205740"/>
              <a:ext cx="1392476" cy="259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200" b="1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Engine API Call</a:t>
              </a:r>
            </a:p>
          </p:txBody>
        </p:sp>
      </p:grpSp>
      <p:grpSp>
        <p:nvGrpSpPr>
          <p:cNvPr id="175" name="Group"/>
          <p:cNvGrpSpPr/>
          <p:nvPr/>
        </p:nvGrpSpPr>
        <p:grpSpPr>
          <a:xfrm>
            <a:off x="10485901" y="5513125"/>
            <a:ext cx="1527969" cy="670561"/>
            <a:chOff x="0" y="0"/>
            <a:chExt cx="1527968" cy="670559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1527969" cy="67056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  <a:endParaRPr/>
            </a:p>
          </p:txBody>
        </p:sp>
        <p:sp>
          <p:nvSpPr>
            <p:cNvPr id="174" name="Result /  Error"/>
            <p:cNvSpPr txBox="1"/>
            <p:nvPr/>
          </p:nvSpPr>
          <p:spPr>
            <a:xfrm>
              <a:off x="67747" y="205740"/>
              <a:ext cx="1392476" cy="259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sz="1200" b="1"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r>
                <a:t>Result /  Error</a:t>
              </a:r>
            </a:p>
          </p:txBody>
        </p:sp>
      </p:grpSp>
      <p:sp>
        <p:nvSpPr>
          <p:cNvPr id="176" name="Line"/>
          <p:cNvSpPr/>
          <p:nvPr/>
        </p:nvSpPr>
        <p:spPr>
          <a:xfrm>
            <a:off x="3781117" y="5848405"/>
            <a:ext cx="354717" cy="1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7751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7" name="Line"/>
          <p:cNvSpPr/>
          <p:nvPr/>
        </p:nvSpPr>
        <p:spPr>
          <a:xfrm>
            <a:off x="5859537" y="5848405"/>
            <a:ext cx="354717" cy="1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7751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8" name="Line"/>
          <p:cNvSpPr/>
          <p:nvPr/>
        </p:nvSpPr>
        <p:spPr>
          <a:xfrm>
            <a:off x="7937957" y="5848405"/>
            <a:ext cx="354716" cy="1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7751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79" name="Line"/>
          <p:cNvSpPr/>
          <p:nvPr/>
        </p:nvSpPr>
        <p:spPr>
          <a:xfrm>
            <a:off x="10027670" y="5848405"/>
            <a:ext cx="354717" cy="1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0000" dir="843963" rotWithShape="0">
              <a:srgbClr val="000000">
                <a:alpha val="7751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graphicFrame>
        <p:nvGraphicFramePr>
          <p:cNvPr id="180" name="Table 1"/>
          <p:cNvGraphicFramePr/>
          <p:nvPr>
            <p:extLst>
              <p:ext uri="{D42A27DB-BD31-4B8C-83A1-F6EECF244321}">
                <p14:modId xmlns:p14="http://schemas.microsoft.com/office/powerpoint/2010/main" val="3698950397"/>
              </p:ext>
            </p:extLst>
          </p:nvPr>
        </p:nvGraphicFramePr>
        <p:xfrm>
          <a:off x="6527854" y="1929076"/>
          <a:ext cx="5074457" cy="249508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492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957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i="1">
                          <a:solidFill>
                            <a:srgbClr val="900000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Invalid Command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Unrecognized keyword or bad syntax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57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i="1">
                          <a:solidFill>
                            <a:srgbClr val="900000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Missing semi-colon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All commands need trailing (;)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57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i="1">
                          <a:solidFill>
                            <a:srgbClr val="900000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Table Not Found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Checked before any engine call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79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i="1" dirty="0">
                          <a:solidFill>
                            <a:srgbClr val="900000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Type Mismatch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Caught at engine layer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739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i="1">
                          <a:solidFill>
                            <a:srgbClr val="900000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Row out-of-range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defRPr sz="1800" spc="0"/>
                      </a:pPr>
                      <a:r>
                        <a:rPr dirty="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Row index &gt; </a:t>
                      </a:r>
                      <a:r>
                        <a:rPr dirty="0" err="1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num_of_rows</a:t>
                      </a:r>
                      <a:endParaRPr dirty="0">
                        <a:latin typeface="Avenir Next Regular"/>
                        <a:ea typeface="Avenir Next Regular"/>
                        <a:cs typeface="Avenir Next Regular"/>
                        <a:sym typeface="Avenir Next Regular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" name="Error Handling"/>
          <p:cNvSpPr txBox="1"/>
          <p:nvPr/>
        </p:nvSpPr>
        <p:spPr>
          <a:xfrm>
            <a:off x="7937957" y="1200117"/>
            <a:ext cx="3647864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tabLst>
                <a:tab pos="177800" algn="l"/>
              </a:tabLst>
              <a:defRPr sz="3600" b="1" i="1">
                <a:solidFill>
                  <a:srgbClr val="8ECAE6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800" dirty="0"/>
              <a:t>Error Handling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bject 2"/>
          <p:cNvSpPr txBox="1">
            <a:spLocks noGrp="1"/>
          </p:cNvSpPr>
          <p:nvPr>
            <p:ph type="title"/>
          </p:nvPr>
        </p:nvSpPr>
        <p:spPr>
          <a:xfrm>
            <a:off x="248228" y="147587"/>
            <a:ext cx="4450080" cy="695960"/>
          </a:xfrm>
          <a:prstGeom prst="rect">
            <a:avLst/>
          </a:prstGeom>
        </p:spPr>
        <p:txBody>
          <a:bodyPr>
            <a:normAutofit/>
          </a:bodyPr>
          <a:lstStyle>
            <a:lvl1pPr indent="11684" defTabSz="841247">
              <a:defRPr sz="4048" b="1" spc="-92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3200" dirty="0"/>
              <a:t>Conclusion</a:t>
            </a:r>
          </a:p>
        </p:txBody>
      </p:sp>
      <p:sp>
        <p:nvSpPr>
          <p:cNvPr id="184" name="object 3"/>
          <p:cNvSpPr txBox="1"/>
          <p:nvPr/>
        </p:nvSpPr>
        <p:spPr>
          <a:xfrm>
            <a:off x="326196" y="1297325"/>
            <a:ext cx="5680087" cy="5847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buSzPct val="100000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Schema File </a:t>
            </a:r>
            <a:r>
              <a:rPr lang="en-US" sz="2000" dirty="0"/>
              <a:t>Design</a:t>
            </a:r>
            <a:endParaRPr sz="2000" dirty="0"/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Designing fixed/structured record layouts using structs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Managing </a:t>
            </a:r>
            <a:r>
              <a:rPr sz="2000" b="1" dirty="0"/>
              <a:t>schema data manually</a:t>
            </a:r>
            <a:r>
              <a:rPr sz="2000" dirty="0"/>
              <a:t> (column names, types, ordering)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Understanding serialization of schema to files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Ensuring consistency between schema and stored data</a:t>
            </a:r>
          </a:p>
          <a:p>
            <a:pPr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2000" dirty="0"/>
          </a:p>
          <a:p>
            <a:pPr>
              <a:buSzPct val="100000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Parser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Implementing string tokenization and command parsing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Handling basic syntax validation for user inputs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Converting raw input into structured commands (tokens/fields)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Managing </a:t>
            </a:r>
            <a:r>
              <a:rPr sz="2000" b="1" dirty="0"/>
              <a:t>edge cases in parsing</a:t>
            </a:r>
            <a:r>
              <a:rPr sz="2000" dirty="0"/>
              <a:t> (spaces, delimiters, formats)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2000" dirty="0"/>
          </a:p>
          <a:p>
            <a:pPr marL="561473" lvl="1" indent="-180473" defTabSz="457200">
              <a:buSzPct val="100000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endParaRPr sz="2000" dirty="0"/>
          </a:p>
        </p:txBody>
      </p:sp>
      <p:sp>
        <p:nvSpPr>
          <p:cNvPr id="185" name="Interpreter…"/>
          <p:cNvSpPr txBox="1"/>
          <p:nvPr/>
        </p:nvSpPr>
        <p:spPr>
          <a:xfrm>
            <a:off x="6185717" y="1297325"/>
            <a:ext cx="5680087" cy="5324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buSzPct val="100000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Interpreter</a:t>
            </a:r>
            <a:r>
              <a:rPr lang="en-US" sz="2000" dirty="0"/>
              <a:t> Design</a:t>
            </a:r>
            <a:endParaRPr sz="2000" dirty="0"/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Mapping parsed commands to </a:t>
            </a:r>
            <a:r>
              <a:rPr sz="2000" b="1" dirty="0"/>
              <a:t>engine-level function calls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Designing a control flow for query execution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Handling command</a:t>
            </a:r>
            <a:r>
              <a:rPr lang="en-US" sz="2000" dirty="0"/>
              <a:t>s</a:t>
            </a:r>
            <a:r>
              <a:rPr sz="2000" dirty="0"/>
              <a:t> (CREATE, READ, UPDATE, DELETE)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Bridging user input </a:t>
            </a:r>
            <a:r>
              <a:rPr lang="en-US" sz="2000" dirty="0"/>
              <a:t>to </a:t>
            </a:r>
            <a:r>
              <a:rPr sz="2000" dirty="0"/>
              <a:t>low-level file operations</a:t>
            </a:r>
          </a:p>
          <a:p>
            <a:pPr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lang="en-US" sz="2000" dirty="0"/>
          </a:p>
          <a:p>
            <a:pPr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2000" dirty="0"/>
          </a:p>
          <a:p>
            <a:pPr>
              <a:buSzPct val="100000"/>
              <a:defRPr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Fundamentals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Binary/Text file handling </a:t>
            </a:r>
            <a:r>
              <a:rPr lang="en-US" sz="2000" dirty="0"/>
              <a:t>using </a:t>
            </a:r>
            <a:r>
              <a:rPr sz="2000" dirty="0" err="1"/>
              <a:t>fstream</a:t>
            </a:r>
            <a:r>
              <a:rPr sz="2000" dirty="0"/>
              <a:t> </a:t>
            </a:r>
            <a:endParaRPr lang="en-IN" sz="2000" dirty="0"/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b="1" dirty="0"/>
              <a:t>Memory management</a:t>
            </a:r>
            <a:r>
              <a:rPr sz="2000" dirty="0"/>
              <a:t> </a:t>
            </a:r>
            <a:r>
              <a:rPr lang="en-US" sz="2000" dirty="0"/>
              <a:t>(</a:t>
            </a:r>
            <a:r>
              <a:rPr sz="2000" dirty="0"/>
              <a:t>buffers, file streams</a:t>
            </a:r>
            <a:r>
              <a:rPr lang="en-US" sz="2000" dirty="0"/>
              <a:t>, smart pointers</a:t>
            </a:r>
            <a:r>
              <a:rPr sz="2000" dirty="0"/>
              <a:t>)</a:t>
            </a:r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Understanding sequential access vs random access in files</a:t>
            </a:r>
            <a:r>
              <a:rPr lang="en-US" sz="2000" dirty="0"/>
              <a:t>.</a:t>
            </a:r>
            <a:endParaRPr sz="2000" dirty="0"/>
          </a:p>
          <a:p>
            <a:pPr marL="561473" lvl="1" indent="-180473">
              <a:buSzPct val="100000"/>
              <a:buChar char="•"/>
              <a:defRPr sz="1200">
                <a:solidFill>
                  <a:srgbClr val="D1D1D1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2000" dirty="0"/>
              <a:t>Translating high-level operations into low-level algorithms</a:t>
            </a:r>
            <a:r>
              <a:rPr lang="en-US" sz="2000" dirty="0"/>
              <a:t> and API calls.</a:t>
            </a:r>
            <a:endParaRPr sz="2000" dirty="0"/>
          </a:p>
        </p:txBody>
      </p:sp>
      <p:sp>
        <p:nvSpPr>
          <p:cNvPr id="186" name="Learnings from this project"/>
          <p:cNvSpPr txBox="1"/>
          <p:nvPr/>
        </p:nvSpPr>
        <p:spPr>
          <a:xfrm>
            <a:off x="248228" y="681655"/>
            <a:ext cx="550065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7325" indent="-174625">
              <a:spcBef>
                <a:spcPts val="600"/>
              </a:spcBef>
              <a:buSzPct val="100000"/>
              <a:buFont typeface="Arial"/>
              <a:buChar char="•"/>
              <a:tabLst>
                <a:tab pos="177800" algn="l"/>
              </a:tabLst>
              <a:defRPr sz="3600" b="1">
                <a:solidFill>
                  <a:srgbClr val="8ECAE6"/>
                </a:solidFill>
              </a:defRPr>
            </a:lvl1pPr>
          </a:lstStyle>
          <a:p>
            <a:pPr marL="12700" indent="0">
              <a:buNone/>
            </a:pPr>
            <a:r>
              <a:rPr sz="2400" dirty="0"/>
              <a:t>Learnings from this project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1178</Words>
  <Application>Microsoft Office PowerPoint</Application>
  <PresentationFormat>Widescreen</PresentationFormat>
  <Paragraphs>230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Next Demi Bold</vt:lpstr>
      <vt:lpstr>Avenir Next Medium</vt:lpstr>
      <vt:lpstr>Avenir Next Regular</vt:lpstr>
      <vt:lpstr>Calibri</vt:lpstr>
      <vt:lpstr>Helvetica Neue</vt:lpstr>
      <vt:lpstr>Office Theme</vt:lpstr>
      <vt:lpstr>File-Based Database Management System</vt:lpstr>
      <vt:lpstr>Problem Statement</vt:lpstr>
      <vt:lpstr>Current Status</vt:lpstr>
      <vt:lpstr>Project Idea</vt:lpstr>
      <vt:lpstr>Engine Architecture - Schema and Binary Storage</vt:lpstr>
      <vt:lpstr>Data Operations - CRUD via Engine</vt:lpstr>
      <vt:lpstr>Engine API - How developers can use it</vt:lpstr>
      <vt:lpstr>Parser and Interpreter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harish babu</cp:lastModifiedBy>
  <cp:revision>12</cp:revision>
  <dcterms:modified xsi:type="dcterms:W3CDTF">2026-04-18T10:13:10Z</dcterms:modified>
</cp:coreProperties>
</file>